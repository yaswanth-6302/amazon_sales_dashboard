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Monthly Revenue ($M): 2022 vs 2023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1.42</c:v>
                </c:pt>
                <c:pt idx="1">
                  <c:v>1.31</c:v>
                </c:pt>
                <c:pt idx="2">
                  <c:v>1.37</c:v>
                </c:pt>
                <c:pt idx="3">
                  <c:v>1.35</c:v>
                </c:pt>
                <c:pt idx="4">
                  <c:v>1.38</c:v>
                </c:pt>
                <c:pt idx="5">
                  <c:v>1.36</c:v>
                </c:pt>
                <c:pt idx="6">
                  <c:v>1.36</c:v>
                </c:pt>
                <c:pt idx="7">
                  <c:v>1.41</c:v>
                </c:pt>
                <c:pt idx="8">
                  <c:v>1.35</c:v>
                </c:pt>
                <c:pt idx="9">
                  <c:v>1.39</c:v>
                </c:pt>
                <c:pt idx="10">
                  <c:v>1.36</c:v>
                </c:pt>
                <c:pt idx="11">
                  <c:v>1.38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00A8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1.46</c:v>
                </c:pt>
                <c:pt idx="1">
                  <c:v>1.24</c:v>
                </c:pt>
                <c:pt idx="2">
                  <c:v>1.38</c:v>
                </c:pt>
                <c:pt idx="3">
                  <c:v>1.38</c:v>
                </c:pt>
                <c:pt idx="4">
                  <c:v>1.38</c:v>
                </c:pt>
                <c:pt idx="5">
                  <c:v>1.37</c:v>
                </c:pt>
                <c:pt idx="6">
                  <c:v>1.38</c:v>
                </c:pt>
                <c:pt idx="7">
                  <c:v>1.37</c:v>
                </c:pt>
                <c:pt idx="8">
                  <c:v>1.38</c:v>
                </c:pt>
                <c:pt idx="9">
                  <c:v>1.37</c:v>
                </c:pt>
                <c:pt idx="10">
                  <c:v>1.38</c:v>
                </c:pt>
                <c:pt idx="11">
                  <c:v>1.38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34D6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D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34D6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B2D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1B2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Revenue by Product Category ($M)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99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E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C4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523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2C81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Beauty</c:v>
                  </c:pt>
                  <c:pt idx="1">
                    <c:v>Books</c:v>
                  </c:pt>
                  <c:pt idx="2">
                    <c:v>Fashion</c:v>
                  </c:pt>
                  <c:pt idx="3">
                    <c:v>Home &amp; Kitchen</c:v>
                  </c:pt>
                  <c:pt idx="4">
                    <c:v>Electronics</c:v>
                  </c:pt>
                  <c:pt idx="5">
                    <c:v>Sports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5.55</c:v>
                </c:pt>
                <c:pt idx="1">
                  <c:v>5.48</c:v>
                </c:pt>
                <c:pt idx="2">
                  <c:v>5.48</c:v>
                </c:pt>
                <c:pt idx="3">
                  <c:v>5.47</c:v>
                </c:pt>
                <c:pt idx="4">
                  <c:v>5.47</c:v>
                </c:pt>
                <c:pt idx="5">
                  <c:v>5.41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4D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E4A"/>
        </a:solidFill>
        <a:ln>
          <a:noFill/>
        </a:ln>
        <a:effectLst/>
      </c:spPr>
    </c:plotArea>
    <c:plotVisOnly val="1"/>
    <c:dispBlanksAs val="span"/>
  </c:chart>
  <c:spPr>
    <a:solidFill>
      <a:srgbClr val="1A2E4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Payment Method Share (by Revenue)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9900"/>
              </a:solidFill>
              <a:effectLst/>
            </c:spPr>
          </c:dPt>
          <c:dPt>
            <c:idx val="1"/>
            <c:bubble3D val="0"/>
            <c:spPr>
              <a:solidFill>
                <a:srgbClr val="00A8E0"/>
              </a:solidFill>
              <a:effectLst/>
            </c:spPr>
          </c:dPt>
          <c:dPt>
            <c:idx val="2"/>
            <c:bubble3D val="0"/>
            <c:spPr>
              <a:solidFill>
                <a:srgbClr val="00C48C"/>
              </a:solidFill>
              <a:effectLst/>
            </c:spPr>
          </c:dPt>
          <c:dPt>
            <c:idx val="3"/>
            <c:bubble3D val="0"/>
            <c:spPr>
              <a:solidFill>
                <a:srgbClr val="A855F7"/>
              </a:solidFill>
              <a:effectLst/>
            </c:spPr>
          </c:dPt>
          <c:dPt>
            <c:idx val="4"/>
            <c:bubble3D val="0"/>
            <c:spPr>
              <a:solidFill>
                <a:srgbClr val="F5523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Wallet</c:v>
                </c:pt>
                <c:pt idx="1">
                  <c:v>UPI</c:v>
                </c:pt>
                <c:pt idx="2">
                  <c:v>Cash on Delivery</c:v>
                </c:pt>
                <c:pt idx="3">
                  <c:v>Credit Card</c:v>
                </c:pt>
                <c:pt idx="4">
                  <c:v>Debit Card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6.68</c:v>
                </c:pt>
                <c:pt idx="1">
                  <c:v>6.58</c:v>
                </c:pt>
                <c:pt idx="2">
                  <c:v>6.55</c:v>
                </c:pt>
                <c:pt idx="3">
                  <c:v>6.54</c:v>
                </c:pt>
                <c:pt idx="4">
                  <c:v>6.52</c:v>
                </c:pt>
              </c:numCache>
            </c:numRef>
          </c:val>
        </c:ser>
        <c:firstSliceAng val="0"/>
        <c:holeSize val="4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Regional Revenue Distribution ($M)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0A8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E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99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C4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Middle East</c:v>
                  </c:pt>
                  <c:pt idx="1">
                    <c:v>North America</c:v>
                  </c:pt>
                  <c:pt idx="2">
                    <c:v>Asia</c:v>
                  </c:pt>
                  <c:pt idx="3">
                    <c:v>Europe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8.3</c:v>
                </c:pt>
                <c:pt idx="1">
                  <c:v>8.28</c:v>
                </c:pt>
                <c:pt idx="2">
                  <c:v>8.18</c:v>
                </c:pt>
                <c:pt idx="3">
                  <c:v>8.11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4D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B2D"/>
        </a:solidFill>
        <a:ln>
          <a:noFill/>
        </a:ln>
        <a:effectLst/>
      </c:spPr>
    </c:plotArea>
    <c:plotVisOnly val="1"/>
    <c:dispBlanksAs val="span"/>
  </c:chart>
  <c:spPr>
    <a:solidFill>
      <a:srgbClr val="0F1B2D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Avg Revenue per Order by Discount Tier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Revenue ($)</c:v>
                </c:pt>
              </c:strCache>
            </c:strRef>
          </c:tx>
          <c:spPr>
            <a:solidFill>
              <a:srgbClr val="00C4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4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99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52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 Disc (0%)</c:v>
                  </c:pt>
                  <c:pt idx="1">
                    <c:v>Low (1-10%)</c:v>
                  </c:pt>
                  <c:pt idx="2">
                    <c:v>Mid (11-20%)</c:v>
                  </c:pt>
                  <c:pt idx="3">
                    <c:v>High (21-30%)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749</c:v>
                </c:pt>
                <c:pt idx="1">
                  <c:v>709</c:v>
                </c:pt>
                <c:pt idx="2">
                  <c:v>628</c:v>
                </c:pt>
                <c:pt idx="3">
                  <c:v>522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D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3352"/>
        </a:solidFill>
        <a:ln>
          <a:noFill/>
        </a:ln>
        <a:effectLst/>
      </c:spPr>
    </c:plotArea>
    <c:plotVisOnly val="1"/>
    <c:dispBlanksAs val="span"/>
  </c:chart>
  <c:spPr>
    <a:solidFill>
      <a:srgbClr val="1E3352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Avg Revenue per Order by Customer Rating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Revenue ($)</c:v>
                </c:pt>
              </c:strCache>
            </c:strRef>
          </c:tx>
          <c:spPr>
            <a:solidFill>
              <a:srgbClr val="F552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52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99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C81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C48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A8E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★1</c:v>
                  </c:pt>
                  <c:pt idx="1">
                    <c:v>★2</c:v>
                  </c:pt>
                  <c:pt idx="2">
                    <c:v>★3</c:v>
                  </c:pt>
                  <c:pt idx="3">
                    <c:v>★4</c:v>
                  </c:pt>
                  <c:pt idx="4">
                    <c:v>★5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662</c:v>
                </c:pt>
                <c:pt idx="1">
                  <c:v>657</c:v>
                </c:pt>
                <c:pt idx="2">
                  <c:v>654</c:v>
                </c:pt>
                <c:pt idx="3">
                  <c:v>657</c:v>
                </c:pt>
                <c:pt idx="4">
                  <c:v>662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D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3352"/>
        </a:solidFill>
        <a:ln>
          <a:noFill/>
        </a:ln>
        <a:effectLst/>
      </c:spPr>
    </c:plotArea>
    <c:plotVisOnly val="1"/>
    <c:dispBlanksAs val="span"/>
  </c:chart>
  <c:spPr>
    <a:solidFill>
      <a:srgbClr val="1E335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image" Target="../media/image-6-1.png"/><Relationship Id="rId4" Type="http://schemas.openxmlformats.org/officeDocument/2006/relationships/image" Target="../media/image-6-2.png"/><Relationship Id="rId5" Type="http://schemas.openxmlformats.org/officeDocument/2006/relationships/image" Target="../media/image-6-3.png"/><Relationship Id="rId6" Type="http://schemas.openxmlformats.org/officeDocument/2006/relationships/image" Target="../media/image-6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FF990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200400"/>
            <a:ext cx="1371600" cy="1943100"/>
          </a:xfrm>
          <a:prstGeom prst="rect">
            <a:avLst/>
          </a:prstGeom>
          <a:solidFill>
            <a:srgbClr val="00A8E0">
              <a:alpha val="1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5029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900"/>
                </a:solidFill>
              </a:rPr>
              <a:t>DATA ANALYTICS PROJECT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10515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65760" y="1965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Report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36576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3B8"/>
                </a:solidFill>
              </a:rPr>
              <a:t>50,000 Orders  •  2022–2023  •  6 Categories  •  4 Regions  •  5 Payment Methods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3493008"/>
            <a:ext cx="5029200" cy="27432"/>
          </a:xfrm>
          <a:prstGeom prst="rect">
            <a:avLst/>
          </a:prstGeom>
          <a:solidFill>
            <a:srgbClr val="8EA3B8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3703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</a:rPr>
              <a:t>$32.87M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65760" y="4251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423160" y="3703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</a:rPr>
              <a:t>50,000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423160" y="4251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Total Orders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480560" y="3703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</a:rPr>
              <a:t>$657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480560" y="4251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Avg Order Value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537960" y="3703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</a:rPr>
              <a:t>+0.54%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537960" y="4251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YoY Growth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By Bandi Yaswanth Reddy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301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A3B8"/>
                </a:solidFill>
              </a:rPr>
              <a:t>End-to-End Data Analytics 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1627632" cy="1600200"/>
          </a:xfrm>
          <a:prstGeom prst="rect">
            <a:avLst/>
          </a:prstGeom>
          <a:solidFill>
            <a:srgbClr val="0F1B2D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1887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175564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Excel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28600" y="207568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Data Cleaning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719072"/>
            <a:ext cx="164592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993392" y="1078992"/>
            <a:ext cx="1627632" cy="1600200"/>
          </a:xfrm>
          <a:prstGeom prst="rect">
            <a:avLst/>
          </a:prstGeom>
          <a:solidFill>
            <a:srgbClr val="0F1B2D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608" y="11887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93392" y="175564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MySQL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993392" y="207568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SQL Analysis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1719072"/>
            <a:ext cx="164592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758184" y="1078992"/>
            <a:ext cx="1627632" cy="1600200"/>
          </a:xfrm>
          <a:prstGeom prst="rect">
            <a:avLst/>
          </a:prstGeom>
          <a:solidFill>
            <a:srgbClr val="0F1B2D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18872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758184" y="175564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Power BI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3758184" y="207568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Dashboard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4104" y="1719072"/>
            <a:ext cx="164592" cy="201168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5522976" y="1078992"/>
            <a:ext cx="1627632" cy="1600200"/>
          </a:xfrm>
          <a:prstGeom prst="rect">
            <a:avLst/>
          </a:prstGeom>
          <a:solidFill>
            <a:srgbClr val="0F1B2D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8192" y="1188720"/>
            <a:ext cx="457200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522976" y="175564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HTML/JS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5522976" y="207568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AI Dashboard</a:t>
            </a:r>
            <a:endParaRPr lang="en-US" sz="10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8896" y="1719072"/>
            <a:ext cx="164592" cy="201168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7287768" y="1078992"/>
            <a:ext cx="1627632" cy="1600200"/>
          </a:xfrm>
          <a:prstGeom prst="rect">
            <a:avLst/>
          </a:prstGeom>
          <a:solidFill>
            <a:srgbClr val="0F1B2D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2984" y="1188720"/>
            <a:ext cx="457200" cy="4572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7287768" y="175564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Report</a:t>
            </a:r>
            <a:endParaRPr lang="en-US" sz="1300" dirty="0"/>
          </a:p>
        </p:txBody>
      </p:sp>
      <p:sp>
        <p:nvSpPr>
          <p:cNvPr id="29" name="Text 18"/>
          <p:cNvSpPr/>
          <p:nvPr/>
        </p:nvSpPr>
        <p:spPr>
          <a:xfrm>
            <a:off x="7287768" y="207568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PDF Insights</a:t>
            </a:r>
            <a:endParaRPr lang="en-US" sz="1000" dirty="0"/>
          </a:p>
        </p:txBody>
      </p:sp>
      <p:sp>
        <p:nvSpPr>
          <p:cNvPr id="30" name="Text 19"/>
          <p:cNvSpPr/>
          <p:nvPr/>
        </p:nvSpPr>
        <p:spPr>
          <a:xfrm>
            <a:off x="36576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1B2D"/>
                </a:solidFill>
              </a:rPr>
              <a:t>PROJECT WORKFLOW</a:t>
            </a:r>
            <a:endParaRPr lang="en-US" sz="1300" dirty="0"/>
          </a:p>
        </p:txBody>
      </p:sp>
      <p:sp>
        <p:nvSpPr>
          <p:cNvPr id="31" name="Shape 20"/>
          <p:cNvSpPr/>
          <p:nvPr/>
        </p:nvSpPr>
        <p:spPr>
          <a:xfrm>
            <a:off x="365760" y="3218688"/>
            <a:ext cx="8412480" cy="2743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2" name="Shape 21"/>
          <p:cNvSpPr/>
          <p:nvPr/>
        </p:nvSpPr>
        <p:spPr>
          <a:xfrm>
            <a:off x="365760" y="3383280"/>
            <a:ext cx="411480" cy="3840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3" name="Text 22"/>
          <p:cNvSpPr/>
          <p:nvPr/>
        </p:nvSpPr>
        <p:spPr>
          <a:xfrm>
            <a:off x="365760" y="338328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01</a:t>
            </a:r>
            <a:endParaRPr lang="en-US" sz="1300" dirty="0"/>
          </a:p>
        </p:txBody>
      </p:sp>
      <p:sp>
        <p:nvSpPr>
          <p:cNvPr id="34" name="Text 23"/>
          <p:cNvSpPr/>
          <p:nvPr/>
        </p:nvSpPr>
        <p:spPr>
          <a:xfrm>
            <a:off x="868680" y="33924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</a:rPr>
              <a:t>Data Cleaning</a:t>
            </a:r>
            <a:endParaRPr lang="en-US" sz="1200" dirty="0"/>
          </a:p>
        </p:txBody>
      </p:sp>
      <p:sp>
        <p:nvSpPr>
          <p:cNvPr id="35" name="Text 24"/>
          <p:cNvSpPr/>
          <p:nvPr/>
        </p:nvSpPr>
        <p:spPr>
          <a:xfrm>
            <a:off x="868680" y="35844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Removed duplicates, formatted dates, standardized categories in Excel</a:t>
            </a:r>
            <a:endParaRPr lang="en-US" sz="950" dirty="0"/>
          </a:p>
        </p:txBody>
      </p:sp>
      <p:sp>
        <p:nvSpPr>
          <p:cNvPr id="36" name="Shape 25"/>
          <p:cNvSpPr/>
          <p:nvPr/>
        </p:nvSpPr>
        <p:spPr>
          <a:xfrm>
            <a:off x="365760" y="3877056"/>
            <a:ext cx="411480" cy="3840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7" name="Text 26"/>
          <p:cNvSpPr/>
          <p:nvPr/>
        </p:nvSpPr>
        <p:spPr>
          <a:xfrm>
            <a:off x="365760" y="387705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02</a:t>
            </a:r>
            <a:endParaRPr lang="en-US" sz="1300" dirty="0"/>
          </a:p>
        </p:txBody>
      </p:sp>
      <p:sp>
        <p:nvSpPr>
          <p:cNvPr id="38" name="Text 27"/>
          <p:cNvSpPr/>
          <p:nvPr/>
        </p:nvSpPr>
        <p:spPr>
          <a:xfrm>
            <a:off x="868680" y="38862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</a:rPr>
              <a:t>SQL Analysis</a:t>
            </a:r>
            <a:endParaRPr lang="en-US" sz="1200" dirty="0"/>
          </a:p>
        </p:txBody>
      </p:sp>
      <p:sp>
        <p:nvSpPr>
          <p:cNvPr id="39" name="Text 28"/>
          <p:cNvSpPr/>
          <p:nvPr/>
        </p:nvSpPr>
        <p:spPr>
          <a:xfrm>
            <a:off x="868680" y="40782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27 queries covering revenue, trends, window functions &amp; CTEs in MySQL</a:t>
            </a:r>
            <a:endParaRPr lang="en-US" sz="950" dirty="0"/>
          </a:p>
        </p:txBody>
      </p:sp>
      <p:sp>
        <p:nvSpPr>
          <p:cNvPr id="40" name="Shape 29"/>
          <p:cNvSpPr/>
          <p:nvPr/>
        </p:nvSpPr>
        <p:spPr>
          <a:xfrm>
            <a:off x="365760" y="4370832"/>
            <a:ext cx="411480" cy="3840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1" name="Text 30"/>
          <p:cNvSpPr/>
          <p:nvPr/>
        </p:nvSpPr>
        <p:spPr>
          <a:xfrm>
            <a:off x="365760" y="437083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03</a:t>
            </a:r>
            <a:endParaRPr lang="en-US" sz="1300" dirty="0"/>
          </a:p>
        </p:txBody>
      </p:sp>
      <p:sp>
        <p:nvSpPr>
          <p:cNvPr id="42" name="Text 31"/>
          <p:cNvSpPr/>
          <p:nvPr/>
        </p:nvSpPr>
        <p:spPr>
          <a:xfrm>
            <a:off x="868680" y="43799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</a:rPr>
              <a:t>Power BI Dashboard</a:t>
            </a:r>
            <a:endParaRPr lang="en-US" sz="1200" dirty="0"/>
          </a:p>
        </p:txBody>
      </p:sp>
      <p:sp>
        <p:nvSpPr>
          <p:cNvPr id="43" name="Text 32"/>
          <p:cNvSpPr/>
          <p:nvPr/>
        </p:nvSpPr>
        <p:spPr>
          <a:xfrm>
            <a:off x="868680" y="45720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Interactive filters by region, payment method, category &amp; rating</a:t>
            </a:r>
            <a:endParaRPr lang="en-US" sz="950" dirty="0"/>
          </a:p>
        </p:txBody>
      </p:sp>
      <p:sp>
        <p:nvSpPr>
          <p:cNvPr id="44" name="Shape 33"/>
          <p:cNvSpPr/>
          <p:nvPr/>
        </p:nvSpPr>
        <p:spPr>
          <a:xfrm>
            <a:off x="4846320" y="3383280"/>
            <a:ext cx="411480" cy="3840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5" name="Text 34"/>
          <p:cNvSpPr/>
          <p:nvPr/>
        </p:nvSpPr>
        <p:spPr>
          <a:xfrm>
            <a:off x="4846320" y="338328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04</a:t>
            </a:r>
            <a:endParaRPr lang="en-US" sz="1300" dirty="0"/>
          </a:p>
        </p:txBody>
      </p:sp>
      <p:sp>
        <p:nvSpPr>
          <p:cNvPr id="46" name="Text 35"/>
          <p:cNvSpPr/>
          <p:nvPr/>
        </p:nvSpPr>
        <p:spPr>
          <a:xfrm>
            <a:off x="5349240" y="33924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</a:rPr>
              <a:t>AI HTML Dashboard</a:t>
            </a:r>
            <a:endParaRPr lang="en-US" sz="1200" dirty="0"/>
          </a:p>
        </p:txBody>
      </p:sp>
      <p:sp>
        <p:nvSpPr>
          <p:cNvPr id="47" name="Text 36"/>
          <p:cNvSpPr/>
          <p:nvPr/>
        </p:nvSpPr>
        <p:spPr>
          <a:xfrm>
            <a:off x="5349240" y="35844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Chart.js powered live dashboard with CSV upload and auto-insights</a:t>
            </a:r>
            <a:endParaRPr lang="en-US" sz="950" dirty="0"/>
          </a:p>
        </p:txBody>
      </p:sp>
      <p:sp>
        <p:nvSpPr>
          <p:cNvPr id="48" name="Shape 37"/>
          <p:cNvSpPr/>
          <p:nvPr/>
        </p:nvSpPr>
        <p:spPr>
          <a:xfrm>
            <a:off x="4846320" y="3877056"/>
            <a:ext cx="411480" cy="3840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9" name="Text 38"/>
          <p:cNvSpPr/>
          <p:nvPr/>
        </p:nvSpPr>
        <p:spPr>
          <a:xfrm>
            <a:off x="4846320" y="387705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05</a:t>
            </a:r>
            <a:endParaRPr lang="en-US" sz="1300" dirty="0"/>
          </a:p>
        </p:txBody>
      </p:sp>
      <p:sp>
        <p:nvSpPr>
          <p:cNvPr id="50" name="Text 39"/>
          <p:cNvSpPr/>
          <p:nvPr/>
        </p:nvSpPr>
        <p:spPr>
          <a:xfrm>
            <a:off x="5349240" y="38862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</a:rPr>
              <a:t>Business Report</a:t>
            </a:r>
            <a:endParaRPr lang="en-US" sz="1200" dirty="0"/>
          </a:p>
        </p:txBody>
      </p:sp>
      <p:sp>
        <p:nvSpPr>
          <p:cNvPr id="51" name="Text 40"/>
          <p:cNvSpPr/>
          <p:nvPr/>
        </p:nvSpPr>
        <p:spPr>
          <a:xfrm>
            <a:off x="5349240" y="40782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8-page PDF intelligence report with charts and strategic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" cy="7772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KEY PERFORMANCE METRICS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60520" cy="1828800"/>
          </a:xfrm>
          <a:prstGeom prst="rect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64008" cy="1828800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0972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11556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$32.87M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457200" y="18470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Total Revenue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2402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From 50,000 orders across 2022–2023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914400"/>
            <a:ext cx="4160520" cy="1828800"/>
          </a:xfrm>
          <a:prstGeom prst="rect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914400"/>
            <a:ext cx="64008" cy="1828800"/>
          </a:xfrm>
          <a:prstGeom prst="rect">
            <a:avLst/>
          </a:prstGeom>
          <a:solidFill>
            <a:srgbClr val="00A8E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09728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2040" y="111556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3800" dirty="0"/>
          </a:p>
        </p:txBody>
      </p:sp>
      <p:sp>
        <p:nvSpPr>
          <p:cNvPr id="15" name="Text 11"/>
          <p:cNvSpPr/>
          <p:nvPr/>
        </p:nvSpPr>
        <p:spPr>
          <a:xfrm>
            <a:off x="4892040" y="18470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Total Orders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892040" y="22402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~25,000 orders per year consistently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74320" y="2926080"/>
            <a:ext cx="4160520" cy="1828800"/>
          </a:xfrm>
          <a:prstGeom prst="rect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4320" y="2926080"/>
            <a:ext cx="64008" cy="1828800"/>
          </a:xfrm>
          <a:prstGeom prst="rect">
            <a:avLst/>
          </a:prstGeom>
          <a:solidFill>
            <a:srgbClr val="00C48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10896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7200" y="312724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$657.33</a:t>
            </a:r>
            <a:endParaRPr lang="en-US" sz="3800" dirty="0"/>
          </a:p>
        </p:txBody>
      </p:sp>
      <p:sp>
        <p:nvSpPr>
          <p:cNvPr id="21" name="Text 16"/>
          <p:cNvSpPr/>
          <p:nvPr/>
        </p:nvSpPr>
        <p:spPr>
          <a:xfrm>
            <a:off x="457200" y="38587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Avg Order Value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57200" y="42519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Stable across all categories &amp; regions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09160" y="2926080"/>
            <a:ext cx="4160520" cy="1828800"/>
          </a:xfrm>
          <a:prstGeom prst="rect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09160" y="2926080"/>
            <a:ext cx="64008" cy="1828800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310896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892040" y="312724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+0.54%</a:t>
            </a:r>
            <a:endParaRPr lang="en-US" sz="3800" dirty="0"/>
          </a:p>
        </p:txBody>
      </p:sp>
      <p:sp>
        <p:nvSpPr>
          <p:cNvPr id="27" name="Text 21"/>
          <p:cNvSpPr/>
          <p:nvPr/>
        </p:nvSpPr>
        <p:spPr>
          <a:xfrm>
            <a:off x="4892040" y="38587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YoY Revenue Growth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892040" y="42519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$16.39M (2022) → $16.48M (2023)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" cy="7772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REVENUE TRENDS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0" y="2468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A3B8"/>
                </a:solidFill>
              </a:rPr>
              <a:t>Monthly &amp; Annual Performance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914400"/>
          <a:ext cx="5577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080760" y="960120"/>
            <a:ext cx="2880360" cy="768096"/>
          </a:xfrm>
          <a:prstGeom prst="rect">
            <a:avLst/>
          </a:prstGeom>
          <a:solidFill>
            <a:srgbClr val="0F1B2D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80760" y="960120"/>
            <a:ext cx="64008" cy="76809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9" name="Text 6"/>
          <p:cNvSpPr/>
          <p:nvPr/>
        </p:nvSpPr>
        <p:spPr>
          <a:xfrm>
            <a:off x="6263640" y="10149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📅 January Peak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63640" y="13258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8"/>
                </a:solidFill>
              </a:rPr>
              <a:t>2022: $1.42M  |  2023: $1.46M — consistent New Year demand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080760" y="1874520"/>
            <a:ext cx="2880360" cy="768096"/>
          </a:xfrm>
          <a:prstGeom prst="rect">
            <a:avLst/>
          </a:prstGeom>
          <a:solidFill>
            <a:srgbClr val="0F1B2D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80760" y="1874520"/>
            <a:ext cx="64008" cy="76809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0"/>
          <p:cNvSpPr/>
          <p:nvPr/>
        </p:nvSpPr>
        <p:spPr>
          <a:xfrm>
            <a:off x="6263640" y="19293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📉 February Dip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63640" y="22402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8"/>
                </a:solidFill>
              </a:rPr>
              <a:t>Lowest month both years — post-holiday seasonal pullback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80760" y="2788920"/>
            <a:ext cx="2880360" cy="768096"/>
          </a:xfrm>
          <a:prstGeom prst="rect">
            <a:avLst/>
          </a:prstGeom>
          <a:solidFill>
            <a:srgbClr val="0F1B2D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80760" y="2788920"/>
            <a:ext cx="64008" cy="76809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7" name="Text 14"/>
          <p:cNvSpPr/>
          <p:nvPr/>
        </p:nvSpPr>
        <p:spPr>
          <a:xfrm>
            <a:off x="6263640" y="28437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📈 Aug &amp; Oct Surge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63640" y="31546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8"/>
                </a:solidFill>
              </a:rPr>
              <a:t>Secondary peaks — back-to-school &amp; pre-holiday buying signals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080760" y="3703320"/>
            <a:ext cx="2880360" cy="768096"/>
          </a:xfrm>
          <a:prstGeom prst="rect">
            <a:avLst/>
          </a:prstGeom>
          <a:solidFill>
            <a:srgbClr val="0F1B2D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80760" y="3703320"/>
            <a:ext cx="64008" cy="76809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1" name="Text 18"/>
          <p:cNvSpPr/>
          <p:nvPr/>
        </p:nvSpPr>
        <p:spPr>
          <a:xfrm>
            <a:off x="6263640" y="37581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⚖️ Highly Stable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63640" y="40690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8"/>
                </a:solidFill>
              </a:rPr>
              <a:t>No month exceeds 9% of annual revenue — balanced all year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080760" y="4663440"/>
            <a:ext cx="2880360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172200" y="4700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</a:rPr>
              <a:t>YoY Growth: +0.54% — Steady, consistent expansion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" cy="777240"/>
          </a:xfrm>
          <a:prstGeom prst="rect">
            <a:avLst/>
          </a:prstGeom>
          <a:solidFill>
            <a:srgbClr val="00A8E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CATEGORY PERFORMANCE</a:t>
            </a:r>
            <a:endParaRPr lang="en-US" sz="2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0" y="914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</a:rPr>
              <a:t>CATEGORY SCORECARD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298448"/>
          <a:ext cx="3520440" cy="2743200"/>
        </p:xfrm>
        <a:graphic>
          <a:graphicData uri="http://schemas.openxmlformats.org/drawingml/2006/table">
            <a:tbl>
              <a:tblPr/>
              <a:tblGrid>
                <a:gridCol w="1051560"/>
                <a:gridCol w="640080"/>
                <a:gridCol w="640080"/>
                <a:gridCol w="594360"/>
                <a:gridCol w="594360"/>
              </a:tblGrid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Orders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Rating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Disc%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Beauty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$5.55M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8,465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2.99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13.4%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2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$5.48M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8,327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3.02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13.3%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Fashion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$5.48M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8,365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2.99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13.4%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2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Home &amp; Kitchen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$5.47M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8,258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3.00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13.3%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Electronics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$5.47M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8,320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2.99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13.3%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2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Sports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$5.41M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8,265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3.00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13.4%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D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306824"/>
            <a:ext cx="201168" cy="201168"/>
          </a:xfrm>
          <a:prstGeom prst="rect">
            <a:avLst/>
          </a:prstGeom>
          <a:solidFill>
            <a:srgbClr val="00A8E0"/>
          </a:solidFill>
          <a:ln/>
        </p:spPr>
      </p:sp>
      <p:sp>
        <p:nvSpPr>
          <p:cNvPr id="9" name="Text 5"/>
          <p:cNvSpPr/>
          <p:nvPr/>
        </p:nvSpPr>
        <p:spPr>
          <a:xfrm>
            <a:off x="566928" y="430682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3B8"/>
                </a:solidFill>
              </a:rPr>
              <a:t>Beauty leads at $5.55M — but gap over Sports is just 2.6%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74320" y="4581144"/>
            <a:ext cx="201168" cy="201168"/>
          </a:xfrm>
          <a:prstGeom prst="rect">
            <a:avLst/>
          </a:prstGeom>
          <a:solidFill>
            <a:srgbClr val="00A8E0"/>
          </a:solidFill>
          <a:ln/>
        </p:spPr>
      </p:sp>
      <p:sp>
        <p:nvSpPr>
          <p:cNvPr id="11" name="Text 7"/>
          <p:cNvSpPr/>
          <p:nvPr/>
        </p:nvSpPr>
        <p:spPr>
          <a:xfrm>
            <a:off x="566928" y="458114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3B8"/>
                </a:solidFill>
              </a:rPr>
              <a:t>All categories average ~13.3% discount — consistent strategy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74320" y="4855464"/>
            <a:ext cx="201168" cy="201168"/>
          </a:xfrm>
          <a:prstGeom prst="rect">
            <a:avLst/>
          </a:prstGeom>
          <a:solidFill>
            <a:srgbClr val="00A8E0"/>
          </a:solidFill>
          <a:ln/>
        </p:spPr>
      </p:sp>
      <p:sp>
        <p:nvSpPr>
          <p:cNvPr id="13" name="Text 9"/>
          <p:cNvSpPr/>
          <p:nvPr/>
        </p:nvSpPr>
        <p:spPr>
          <a:xfrm>
            <a:off x="566928" y="48554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3B8"/>
                </a:solidFill>
              </a:rPr>
              <a:t>Books ranks 2nd in revenue with highest avg rating (3.02)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" cy="777240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PAYMENT &amp; REGIONAL DISTRIBUTION</a:t>
            </a:r>
            <a:endParaRPr lang="en-US" sz="2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91440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480560" y="914400"/>
          <a:ext cx="44805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28600" y="4005072"/>
            <a:ext cx="2011680" cy="978408"/>
          </a:xfrm>
          <a:prstGeom prst="rect">
            <a:avLst/>
          </a:prstGeom>
          <a:solidFill>
            <a:srgbClr val="0F1B2D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228600" y="4005072"/>
            <a:ext cx="64008" cy="978408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4078224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672" y="405993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Wallet #1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93192" y="44074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8"/>
                </a:solidFill>
              </a:rPr>
              <a:t>$6.68M revenue — digital adoption strong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2423160" y="4005072"/>
            <a:ext cx="2011680" cy="978408"/>
          </a:xfrm>
          <a:prstGeom prst="rect">
            <a:avLst/>
          </a:prstGeom>
          <a:solidFill>
            <a:srgbClr val="0F1B2D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2423160" y="4005072"/>
            <a:ext cx="64008" cy="978408"/>
          </a:xfrm>
          <a:prstGeom prst="rect">
            <a:avLst/>
          </a:prstGeom>
          <a:solidFill>
            <a:srgbClr val="00A8E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4078224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999232" y="405993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Middle East Leads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2587752" y="44074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8"/>
                </a:solidFill>
              </a:rPr>
              <a:t>$8.30M — $190K ahead of N.America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4617720" y="4005072"/>
            <a:ext cx="2011680" cy="978408"/>
          </a:xfrm>
          <a:prstGeom prst="rect">
            <a:avLst/>
          </a:prstGeom>
          <a:solidFill>
            <a:srgbClr val="0F1B2D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617720" y="4005072"/>
            <a:ext cx="64008" cy="978408"/>
          </a:xfrm>
          <a:prstGeom prst="rect">
            <a:avLst/>
          </a:prstGeom>
          <a:solidFill>
            <a:srgbClr val="00C48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4078224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93792" y="405993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Cash = $6.55M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4782312" y="44074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8"/>
                </a:solidFill>
              </a:rPr>
              <a:t>19.9% share — offline still relevant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6812280" y="4005072"/>
            <a:ext cx="2011680" cy="978408"/>
          </a:xfrm>
          <a:prstGeom prst="rect">
            <a:avLst/>
          </a:prstGeom>
          <a:solidFill>
            <a:srgbClr val="0F1B2D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812280" y="4005072"/>
            <a:ext cx="64008" cy="978408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6872" y="4078224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388352" y="405993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Europe = Growth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6976872" y="44074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3B8"/>
                </a:solidFill>
              </a:rPr>
              <a:t>$8.11M — 2.3% gap = real opportunity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" cy="7772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DISCOUNT IMPACT &amp; CUSTOMER RATINGS</a:t>
            </a:r>
            <a:endParaRPr lang="en-US" sz="2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91440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4142232"/>
            <a:ext cx="292608" cy="29260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4"/>
          <p:cNvSpPr/>
          <p:nvPr/>
        </p:nvSpPr>
        <p:spPr>
          <a:xfrm>
            <a:off x="292608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💸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58368" y="415137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No-discount orders earn $749 avg — 30.4% MORE than high-discount tier ($522)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74320" y="4590288"/>
            <a:ext cx="292608" cy="29260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1" name="Text 7"/>
          <p:cNvSpPr/>
          <p:nvPr/>
        </p:nvSpPr>
        <p:spPr>
          <a:xfrm>
            <a:off x="292608" y="4590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📦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58368" y="45994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66.9% of orders fall in 1-20% discount range — the optimal volume sweet spot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63440" y="4142232"/>
            <a:ext cx="292608" cy="292608"/>
          </a:xfrm>
          <a:prstGeom prst="rect">
            <a:avLst/>
          </a:prstGeom>
          <a:solidFill>
            <a:srgbClr val="00A8E0"/>
          </a:solidFill>
          <a:ln/>
        </p:spPr>
      </p:sp>
      <p:sp>
        <p:nvSpPr>
          <p:cNvPr id="14" name="Text 10"/>
          <p:cNvSpPr/>
          <p:nvPr/>
        </p:nvSpPr>
        <p:spPr>
          <a:xfrm>
            <a:off x="4681728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⭐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047488" y="415137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Rating has minimal revenue impact — $654 to $662 range across all star bands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63440" y="4590288"/>
            <a:ext cx="292608" cy="292608"/>
          </a:xfrm>
          <a:prstGeom prst="rect">
            <a:avLst/>
          </a:prstGeom>
          <a:solidFill>
            <a:srgbClr val="00A8E0"/>
          </a:solidFill>
          <a:ln/>
        </p:spPr>
      </p:sp>
      <p:sp>
        <p:nvSpPr>
          <p:cNvPr id="17" name="Text 13"/>
          <p:cNvSpPr/>
          <p:nvPr/>
        </p:nvSpPr>
        <p:spPr>
          <a:xfrm>
            <a:off x="4681728" y="4590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🎯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047488" y="45994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50.1% of orders are 2-3 star products — improving these drives loyalty at scale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" cy="777240"/>
          </a:xfrm>
          <a:prstGeom prst="rect">
            <a:avLst/>
          </a:prstGeom>
          <a:solidFill>
            <a:srgbClr val="00A8E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SQL ANALYSIS HIGHLIGHTS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858000" y="2468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A3B8"/>
                </a:solidFill>
              </a:rPr>
              <a:t>27 Queries | Basic → Advanced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788920" cy="4069080"/>
          </a:xfrm>
          <a:prstGeom prst="rect">
            <a:avLst/>
          </a:prstGeom>
          <a:solidFill>
            <a:srgbClr val="0F1B2D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87552"/>
            <a:ext cx="1097280" cy="274320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87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</a:rPr>
              <a:t>BASIC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Aggregation &amp; Grouping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828800"/>
            <a:ext cx="2423160" cy="22860"/>
          </a:xfrm>
          <a:prstGeom prst="rect">
            <a:avLst/>
          </a:prstGeom>
          <a:solidFill>
            <a:srgbClr val="00C48C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1984248"/>
            <a:ext cx="91440" cy="91440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920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</a:rPr>
              <a:t>Q1.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9202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3B8"/>
                </a:solidFill>
              </a:rPr>
              <a:t>Total income from all sales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642616"/>
            <a:ext cx="91440" cy="91440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57860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</a:rPr>
              <a:t>Q2.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57860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3B8"/>
                </a:solidFill>
              </a:rPr>
              <a:t>Orders by category &amp; payment method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300984"/>
            <a:ext cx="91440" cy="91440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23697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</a:rPr>
              <a:t>Q3.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2369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3B8"/>
                </a:solidFill>
              </a:rPr>
              <a:t>Revenue by region, month &amp; year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959352"/>
            <a:ext cx="91440" cy="91440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89534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</a:rPr>
              <a:t>Q4.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895344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3B8"/>
                </a:solidFill>
              </a:rPr>
              <a:t>Avg rating &amp; discount per category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0" y="914400"/>
            <a:ext cx="2788920" cy="4069080"/>
          </a:xfrm>
          <a:prstGeom prst="rect">
            <a:avLst/>
          </a:prstGeom>
          <a:solidFill>
            <a:srgbClr val="0F1B2D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987552"/>
            <a:ext cx="1097280" cy="2743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987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</a:rPr>
              <a:t>INTERMEDIATE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13533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Filtering &amp; HAVING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383280" y="1828800"/>
            <a:ext cx="2423160" cy="22860"/>
          </a:xfrm>
          <a:prstGeom prst="rect">
            <a:avLst/>
          </a:prstGeom>
          <a:solidFill>
            <a:srgbClr val="FF9900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383280" y="1984248"/>
            <a:ext cx="91440" cy="914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1920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</a:rPr>
              <a:t>Q1.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94760" y="19202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3B8"/>
                </a:solidFill>
              </a:rPr>
              <a:t>Categories with avg discount &gt; 10%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83280" y="2642616"/>
            <a:ext cx="91440" cy="914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2" name="Text 30"/>
          <p:cNvSpPr/>
          <p:nvPr/>
        </p:nvSpPr>
        <p:spPr>
          <a:xfrm>
            <a:off x="3383280" y="257860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</a:rPr>
              <a:t>Q2.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94760" y="257860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3B8"/>
                </a:solidFill>
              </a:rPr>
              <a:t>Records: discount &gt; 20% AND rating &lt; 3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83280" y="3300984"/>
            <a:ext cx="91440" cy="914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323697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</a:rPr>
              <a:t>Q3.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94760" y="32369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3B8"/>
                </a:solidFill>
              </a:rPr>
              <a:t>Top 5 categories by total revenue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83280" y="3959352"/>
            <a:ext cx="91440" cy="914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8" name="Text 36"/>
          <p:cNvSpPr/>
          <p:nvPr/>
        </p:nvSpPr>
        <p:spPr>
          <a:xfrm>
            <a:off x="3383280" y="389534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</a:rPr>
              <a:t>Q4.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794760" y="3895344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3B8"/>
                </a:solidFill>
              </a:rPr>
              <a:t>Discount loss by customer region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72200" y="914400"/>
            <a:ext cx="2788920" cy="4069080"/>
          </a:xfrm>
          <a:prstGeom prst="rect">
            <a:avLst/>
          </a:prstGeom>
          <a:solidFill>
            <a:srgbClr val="0F1B2D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55080" y="987552"/>
            <a:ext cx="1097280" cy="2743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2" name="Text 40"/>
          <p:cNvSpPr/>
          <p:nvPr/>
        </p:nvSpPr>
        <p:spPr>
          <a:xfrm>
            <a:off x="6355080" y="987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</a:rPr>
              <a:t>ADVANCED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55080" y="13533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Window Functions &amp; CTEs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355080" y="1828800"/>
            <a:ext cx="2423160" cy="22860"/>
          </a:xfrm>
          <a:prstGeom prst="rect">
            <a:avLst/>
          </a:prstGeom>
          <a:solidFill>
            <a:srgbClr val="A855F7">
              <a:alpha val="6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355080" y="1984248"/>
            <a:ext cx="91440" cy="914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6" name="Text 44"/>
          <p:cNvSpPr/>
          <p:nvPr/>
        </p:nvSpPr>
        <p:spPr>
          <a:xfrm>
            <a:off x="6355080" y="1920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Q1.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66560" y="19202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3B8"/>
                </a:solidFill>
              </a:rPr>
              <a:t>Running total revenue by order date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355080" y="2642616"/>
            <a:ext cx="91440" cy="914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9" name="Text 47"/>
          <p:cNvSpPr/>
          <p:nvPr/>
        </p:nvSpPr>
        <p:spPr>
          <a:xfrm>
            <a:off x="6355080" y="257860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Q2.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766560" y="257860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3B8"/>
                </a:solidFill>
              </a:rPr>
              <a:t>RANK() revenue within each category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355080" y="3300984"/>
            <a:ext cx="91440" cy="914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2" name="Text 50"/>
          <p:cNvSpPr/>
          <p:nvPr/>
        </p:nvSpPr>
        <p:spPr>
          <a:xfrm>
            <a:off x="6355080" y="323697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Q3.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766560" y="32369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3B8"/>
                </a:solidFill>
              </a:rPr>
              <a:t>LAG() for previous month's revenue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355080" y="3959352"/>
            <a:ext cx="91440" cy="914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5" name="Text 53"/>
          <p:cNvSpPr/>
          <p:nvPr/>
        </p:nvSpPr>
        <p:spPr>
          <a:xfrm>
            <a:off x="6355080" y="389534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Q4.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766560" y="3895344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3B8"/>
                </a:solidFill>
              </a:rPr>
              <a:t>CTE: Region share &gt; 25% of total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28600" y="5102352"/>
            <a:ext cx="8686800" cy="457200"/>
          </a:xfrm>
          <a:prstGeom prst="rect">
            <a:avLst/>
          </a:prstGeom>
          <a:solidFill>
            <a:srgbClr val="0F1B2D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228600" y="5102352"/>
            <a:ext cx="8686800" cy="457200"/>
          </a:xfrm>
          <a:prstGeom prst="rect">
            <a:avLst/>
          </a:prstGeom>
          <a:solidFill>
            <a:srgbClr val="FF9900">
              <a:alpha val="12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515721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D"/>
                </a:solidFill>
              </a:rPr>
              <a:t>🛢  27 SQL queries covering aggregation, filtering, subqueries, window functions (RANK, LAG, ROW_NUMBER), and CTEs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" cy="7772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STRATEGIC RECOMMENDATIONS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51960" cy="1234440"/>
          </a:xfrm>
          <a:prstGeom prst="rect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64008" cy="1234440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2471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408" y="106984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Target Seasonal Lows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78408" y="141732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February &amp; November underperform. Launch flash sales or loyalty events to smooth revenue without hurting Jan/Aug peaks.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4251960" cy="1234440"/>
          </a:xfrm>
          <a:prstGeom prst="rect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960120"/>
            <a:ext cx="64008" cy="1234440"/>
          </a:xfrm>
          <a:prstGeom prst="rect">
            <a:avLst/>
          </a:prstGeom>
          <a:solidFill>
            <a:srgbClr val="00A8E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2471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58968" y="106984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Elevate Sports &amp; Electronics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58968" y="141732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Lowest revenue despite equal order counts. Bundle deals, exclusive launches, and influencer marketing can close the gap.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28600" y="2377440"/>
            <a:ext cx="4251960" cy="1234440"/>
          </a:xfrm>
          <a:prstGeom prst="rect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28600" y="2377440"/>
            <a:ext cx="64008" cy="1234440"/>
          </a:xfrm>
          <a:prstGeom prst="rect">
            <a:avLst/>
          </a:prstGeom>
          <a:solidFill>
            <a:srgbClr val="00C48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42032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78408" y="248716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Reduce Deep Discounting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78408" y="28346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21-30% discounts sacrifice $228/order vs no-discount. Shift to loyalty rewards or tiered memberships to protect margins.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09160" y="2377440"/>
            <a:ext cx="4251960" cy="1234440"/>
          </a:xfrm>
          <a:prstGeom prst="rect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2377440"/>
            <a:ext cx="64008" cy="1234440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542032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58968" y="248716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Incentivise Credit Card Use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58968" y="28346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Credit Card ranks 4th despite highest avg order value. Card-exclusive cashback and co-branded EMI offers can lift volume.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228600" y="3794760"/>
            <a:ext cx="4251960" cy="1234440"/>
          </a:xfrm>
          <a:prstGeom prst="rect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28600" y="3794760"/>
            <a:ext cx="64008" cy="1234440"/>
          </a:xfrm>
          <a:prstGeom prst="rect">
            <a:avLst/>
          </a:prstGeom>
          <a:solidFill>
            <a:srgbClr val="F5523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959352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78408" y="390448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Invest in Europe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78408" y="425196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Lowest region at $8.11M with a $190K gap to #1. Localised marketing, faster delivery, and logistics partnerships can close it.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709160" y="3794760"/>
            <a:ext cx="4251960" cy="1234440"/>
          </a:xfrm>
          <a:prstGeom prst="rect">
            <a:avLst/>
          </a:prstGeom>
          <a:solidFill>
            <a:srgbClr val="1E3352"/>
          </a:solidFill>
          <a:ln w="12700">
            <a:solidFill>
              <a:srgbClr val="1E33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09160" y="3794760"/>
            <a:ext cx="64008" cy="1234440"/>
          </a:xfrm>
          <a:prstGeom prst="rect">
            <a:avLst/>
          </a:prstGeom>
          <a:solidFill>
            <a:srgbClr val="F2C81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959352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58968" y="390448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Improve 2-3 Star Products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458968" y="425196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3B8"/>
                </a:solidFill>
              </a:rPr>
              <a:t>50%+ of orders are mid-rated. Review incentives, quality upgrades, and better listings can build long-term brand loyalty.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oval">
            <a:avLst/>
          </a:prstGeom>
          <a:solidFill>
            <a:srgbClr val="FF990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oval">
            <a:avLst/>
          </a:prstGeom>
          <a:solidFill>
            <a:srgbClr val="00A8E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F9900"/>
                </a:solidFill>
              </a:rPr>
              <a:t>PROJECT COMPLETE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41148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487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Bandi Yaswanth Reddy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3B8"/>
                </a:solidFill>
              </a:rPr>
              <a:t>B.Tech ECE  •  Data Analytics Enthusiast  •  Graduating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520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3B8"/>
                </a:solidFill>
              </a:rPr>
              <a:t>🔗  LinkedIn: linkedin.com/in/yashwanth-reddy-bandi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9044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3B8"/>
                </a:solidFill>
              </a:rPr>
              <a:t>💻  GitHub: github.com/Yaswanth-6302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462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00"/>
                </a:solidFill>
              </a:rPr>
              <a:t>Excel  •  MySQL  •  Power BI  •  HTML/JS/Chart.js  •  GitHub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3B8"/>
                </a:solidFill>
              </a:rPr>
              <a:t>Amazon Sales Intelligence Report  |  50,000 Orders  |  2022–2023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Sales Analysis</dc:title>
  <dc:subject>PptxGenJS Presentation</dc:subject>
  <dc:creator>Bandi Yaswanth Reddy</dc:creator>
  <cp:lastModifiedBy>Bandi Yaswanth Reddy</cp:lastModifiedBy>
  <cp:revision>1</cp:revision>
  <dcterms:created xsi:type="dcterms:W3CDTF">2026-04-06T05:17:42Z</dcterms:created>
  <dcterms:modified xsi:type="dcterms:W3CDTF">2026-04-06T05:17:42Z</dcterms:modified>
</cp:coreProperties>
</file>